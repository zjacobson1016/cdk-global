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011680"/>
            <a:ext cx="1371600" cy="54864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CDK Global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B72B"/>
                </a:solidFill>
                <a:latin typeface="Calibri"/>
              </a:defRPr>
            </a:pPr>
            <a:r>
              <a:t>Databricks Solution Accelerator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End-to-end auto lending: MLOps  |  Document AI  |  Deterministic Rules  |  Multi-Agent Supervisor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463040"/>
            <a:ext cx="73152" cy="7315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Three specialized agents orchestrated by a Multi-Agent Supervisor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2926080"/>
            <a:ext cx="5760720" cy="822960"/>
          </a:xfrm>
          <a:prstGeom prst="roundRect">
            <a:avLst/>
          </a:prstGeom>
          <a:solidFill>
            <a:srgbClr val="FF3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301752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CDK Lending Supervisor (MAS)</a:t>
            </a:r>
            <a:br/>
            <a:r>
              <a:t>Unified conversational interface for F&amp;I managers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4114800"/>
            <a:ext cx="3291840" cy="201168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4251960"/>
            <a:ext cx="54864" cy="45720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4206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B72B"/>
                </a:solidFill>
                <a:latin typeface="Calibri"/>
              </a:defRPr>
            </a:pPr>
            <a:r>
              <a:t>Lender Approval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61772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Model Serving Endpoint</a:t>
            </a:r>
            <a:br/>
            <a:br/>
            <a:r>
              <a:t>ML model + deterministic rules</a:t>
            </a:r>
            <a:br/>
            <a:r>
              <a:t>Income verification</a:t>
            </a:r>
            <a:br/>
            <a:r>
              <a:t>ID expiration check</a:t>
            </a:r>
            <a:br/>
            <a:r>
              <a:t>Structured decision reasoning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4114800"/>
            <a:ext cx="3291840" cy="201168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46320" y="4251960"/>
            <a:ext cx="54864" cy="45720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4206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B72B"/>
                </a:solidFill>
                <a:latin typeface="Calibri"/>
              </a:defRPr>
            </a:pPr>
            <a:r>
              <a:t>Lending Analytics Genie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61772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Genie Space (SQL)</a:t>
            </a:r>
            <a:br/>
            <a:br/>
            <a:r>
              <a:t>Self-service analytics</a:t>
            </a:r>
            <a:br/>
            <a:r>
              <a:t>Gold layer + inference tables</a:t>
            </a:r>
            <a:br/>
            <a:r>
              <a:t>Approval rates &amp; trends</a:t>
            </a:r>
            <a:br/>
            <a:r>
              <a:t>Natural language queries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4114800"/>
            <a:ext cx="3291840" cy="201168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58200" y="4251960"/>
            <a:ext cx="54864" cy="4572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41080" y="4206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B72B"/>
                </a:solidFill>
                <a:latin typeface="Calibri"/>
              </a:defRPr>
            </a:pPr>
            <a:r>
              <a:t>Lender Shopping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461772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Custom Agent Endpoint</a:t>
            </a:r>
            <a:br/>
            <a:br/>
            <a:r>
              <a:t>UC Function: shop_lenders()</a:t>
            </a:r>
            <a:br/>
            <a:r>
              <a:t>Multi-lender rate comparison</a:t>
            </a:r>
            <a:br/>
            <a:r>
              <a:t>8 lenders, 20 programs</a:t>
            </a:r>
            <a:br/>
            <a:r>
              <a:t>Estimated payments &amp; likelihood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463040"/>
            <a:ext cx="73152" cy="7315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Data 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Three data sources joined by application_id through a medallion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017520"/>
            <a:ext cx="3108960" cy="100584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63040" y="3108960"/>
            <a:ext cx="54864" cy="36576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3063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B72B"/>
                </a:solidFill>
                <a:latin typeface="Calibri"/>
              </a:defRPr>
            </a:pPr>
            <a:r>
              <a:t>Structured Applications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4290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Parquet files</a:t>
            </a:r>
            <a:br/>
            <a:r>
              <a:t>Auto Loader ingestion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3017520"/>
            <a:ext cx="3108960" cy="100584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37760" y="3108960"/>
            <a:ext cx="54864" cy="36576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3063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B72B"/>
                </a:solidFill>
                <a:latin typeface="Calibri"/>
              </a:defRPr>
            </a:pPr>
            <a:r>
              <a:t>Pay Stubs (PDF)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34290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ai_parse_document + ai_query</a:t>
            </a:r>
            <a:br/>
            <a:r>
              <a:t>Verified income extraction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017520"/>
            <a:ext cx="3108960" cy="100584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3108960"/>
            <a:ext cx="54864" cy="36576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3063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B72B"/>
                </a:solidFill>
                <a:latin typeface="Calibri"/>
              </a:defRPr>
            </a:pPr>
            <a:r>
              <a:t>Photo IDs (JPEG)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4290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ai_parse_document + ai_query</a:t>
            </a:r>
            <a:br/>
            <a:r>
              <a:t>Identity + expiration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114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Calibri"/>
              </a:defRPr>
            </a:pPr>
            <a:r>
              <a:t>▼  JOIN on application_id  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45920" y="4663440"/>
            <a:ext cx="2560320" cy="109728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4709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3821"/>
                </a:solidFill>
                <a:latin typeface="Calibri"/>
              </a:defRPr>
            </a:pPr>
            <a:r>
              <a:t>Bronze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749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  <a:latin typeface="Calibri"/>
              </a:defRPr>
            </a:pPr>
            <a:r>
              <a:t>3 streaming tables</a:t>
            </a:r>
            <a:br/>
            <a:r>
              <a:t>(apps, pay stubs, photo IDs)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4663440"/>
            <a:ext cx="2560320" cy="109728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4709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B72B"/>
                </a:solidFill>
                <a:latin typeface="Calibri"/>
              </a:defRPr>
            </a:pPr>
            <a:r>
              <a:t>Silver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50749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  <a:latin typeface="Calibri"/>
              </a:defRPr>
            </a:pPr>
            <a:r>
              <a:t>LEFT JOIN all sources</a:t>
            </a:r>
            <a:br/>
            <a:r>
              <a:t>Enriched applications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663440"/>
            <a:ext cx="2560320" cy="109728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18120" y="4709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C853"/>
                </a:solidFill>
                <a:latin typeface="Calibri"/>
              </a:defRPr>
            </a:pPr>
            <a:r>
              <a:t>Gold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50749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  <a:latin typeface="Calibri"/>
              </a:defRPr>
            </a:pPr>
            <a:r>
              <a:t>ML features + verification</a:t>
            </a:r>
            <a:br/>
            <a:r>
              <a:t>signals + train/test split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463040"/>
            <a:ext cx="73152" cy="7315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ML Pipeline + Deterministic Business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Optuna HPO with custom pyfunc wrapper that applies hard rules at prediction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926080"/>
            <a:ext cx="5303520" cy="34747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B72B"/>
                </a:solidFill>
                <a:latin typeface="Calibri"/>
              </a:defRPr>
            </a:pPr>
            <a:r>
              <a:t>ML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Feature Engineering: Feature table + 3 on-demand UC functions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Optuna HPO: LogisticRegression, RandomForest, LightGBM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Custom pyfunc wrapper (LenderApprovalWithRules)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Champion / Challenger promotion flow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Batch inference via fe.score_batch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Real-time serving via Model Serving endpoint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Lakehouse Monitoring + auto-retrain on drift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26080"/>
            <a:ext cx="5303520" cy="34747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30175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3821"/>
                </a:solidFill>
                <a:latin typeface="Calibri"/>
              </a:defRPr>
            </a:pPr>
            <a:r>
              <a:t>Deterministic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3566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Rule 1: Income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88620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Verified income (pay stub x 26) must be</a:t>
            </a:r>
            <a:br/>
            <a:r>
              <a:t>70%-150% of self-reported income</a:t>
            </a:r>
            <a:br/>
            <a:r>
              <a:t>FAIL = automatic denial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663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Rule 2: ID Expiration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9834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Photo ID must not be expired</a:t>
            </a:r>
            <a:br/>
            <a:r>
              <a:t>FAIL = automatic denial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562356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88"/>
                </a:solidFill>
                <a:latin typeface="Calibri"/>
              </a:defRPr>
            </a:pPr>
            <a:r>
              <a:t>Rules fire at both batch and real-time serving.</a:t>
            </a:r>
            <a:br/>
            <a:r>
              <a:t>Every response includes decision_reason.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463040"/>
            <a:ext cx="73152" cy="7315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Structured Prediction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Every prediction (batch &amp; real-time) returns full decision reasoning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017520"/>
            <a:ext cx="9418320" cy="320040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32004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C853"/>
                </a:solidFill>
                <a:latin typeface="Courier New"/>
              </a:defRPr>
            </a:pPr>
            <a:r>
              <a:t>{</a:t>
            </a:r>
            <a:br/>
            <a:r>
              <a:t>    "prediction": 0,</a:t>
            </a:r>
            <a:br/>
            <a:r>
              <a:t>    "ml_prediction": 1,</a:t>
            </a:r>
            <a:br/>
            <a:r>
              <a:t>    "ml_probability": 0.8723,</a:t>
            </a:r>
            <a:br/>
            <a:r>
              <a:t>    "income_check": "FAIL",</a:t>
            </a:r>
            <a:br/>
            <a:r>
              <a:t>    "id_check": "PASS",</a:t>
            </a:r>
            <a:br/>
            <a:r>
              <a:t>    "decision_reason": "DENIED by rules: Income mismatch</a:t>
            </a:r>
            <a:br/>
            <a:r>
              <a:t>                        (pay stub vs application)"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200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prediction  Final decision after rules (0 = denied)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566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ml_prediction  Raw ML model output (1 = would approve)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9319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ml_probability  Model confidence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42976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income_check  PASS / FAIL / MISSING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6634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id_check  PASS / FAIL / MISSING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029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decision_reason  Human-readable explanation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463040"/>
            <a:ext cx="73152" cy="7315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Lender Shopping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UC Function tool for multi-lender rate 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017520"/>
            <a:ext cx="5486400" cy="320040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B72B"/>
                </a:solidFill>
                <a:latin typeface="Calibri"/>
              </a:defRPr>
            </a:pPr>
            <a:r>
              <a:t>shop_lenders() UC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C853"/>
                </a:solidFill>
                <a:latin typeface="Courier New"/>
              </a:defRPr>
            </a:pPr>
            <a:r>
              <a:t>shop_lenders(</a:t>
            </a:r>
            <a:br/>
            <a:r>
              <a:t>    credit_score     INT,</a:t>
            </a:r>
            <a:br/>
            <a:r>
              <a:t>    annual_income    DOUBLE,</a:t>
            </a:r>
            <a:br/>
            <a:r>
              <a:t>    loan_amount      DOUBLE,</a:t>
            </a:r>
            <a:br/>
            <a:r>
              <a:t>    loan_term_months INT,</a:t>
            </a:r>
            <a:br/>
            <a:r>
              <a:t>    vehicle_year     INT</a:t>
            </a:r>
            <a:br/>
            <a:r>
              <a:t>)</a:t>
            </a:r>
            <a:br/>
            <a:r>
              <a:t>RETURNS TABLE(</a:t>
            </a:r>
            <a:br/>
            <a:r>
              <a:t>    lender_name, program_name, apr,</a:t>
            </a:r>
            <a:br/>
            <a:r>
              <a:t>    estimated_monthly_payment,</a:t>
            </a:r>
            <a:br/>
            <a:r>
              <a:t>    max_ltv, approval_likelihood</a:t>
            </a:r>
            <a:br/>
            <a: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303520" cy="320040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31089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B72B"/>
                </a:solidFill>
                <a:latin typeface="Calibri"/>
              </a:defRPr>
            </a:pPr>
            <a:r>
              <a:t>8 Lenders  |  20 Programs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52044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TD Auto Finance          2.99% - 7.49%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Chase Auto               3.49% - 9.49%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Navy Federal CU          3.79% - 8.99%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Ally Financial            3.99% - 21.99%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Capital One Auto         4.49% - 14.99%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Wells Fargo Dealer       4.29% - 17.99%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AmeriCredit (GM Fin)     4.99% - 17.49%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Westlake Financial      14.49% - 24.99%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463040"/>
            <a:ext cx="73152" cy="7315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Lending Analytics Genie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Self-service SQL analytics via natural language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017520"/>
            <a:ext cx="5303520" cy="320040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B72B"/>
                </a:solidFill>
                <a:latin typeface="Calibri"/>
              </a:defRPr>
            </a:pPr>
            <a:r>
              <a:t>Connected Tables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gold_lender_features  --  ML-ready features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lender_approval_inference_table  --  predictions + labels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lender_approval_offline_inference  --  decisions + reasoning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lender_programs  --  lender rate reference data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lender_approval_feature_table  --  feature store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303520" cy="320040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31089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B72B"/>
                </a:solidFill>
                <a:latin typeface="Calibri"/>
              </a:defRPr>
            </a:pPr>
            <a:r>
              <a:t>Example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52044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"What is the overall approval rate this month?"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"How many apps denied by rules vs ML model?"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"Top 5 lenders by lowest APR for prime borrowers"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"% of apps with income verification mismatches"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"Compare approval rates by credit score tier"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"Show denied apps where ML would have approved"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463040"/>
            <a:ext cx="73152" cy="7315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Multi-Agent Supervisor Routing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Automatic question routing to the right specialist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10698480" cy="100584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3154680"/>
            <a:ext cx="54864" cy="7315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063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Approval / denial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290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3821"/>
                </a:solidFill>
                <a:latin typeface="Calibri"/>
              </a:defRPr>
            </a:pPr>
            <a:r>
              <a:t>Routes to: lender_approval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2004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Calibri"/>
              </a:defRPr>
            </a:pPr>
            <a:r>
              <a:t>"Should I approve this? Credit 680, income $52K, loan $28K"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06240"/>
            <a:ext cx="10698480" cy="100584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4343400"/>
            <a:ext cx="54864" cy="73152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251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Data, metrics, trends, reports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617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2A5F5"/>
                </a:solidFill>
                <a:latin typeface="Calibri"/>
              </a:defRPr>
            </a:pPr>
            <a:r>
              <a:t>Routes to: lending_analytics (Genie)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38912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Calibri"/>
              </a:defRPr>
            </a:pPr>
            <a:r>
              <a:t>"What was our approval rate last week?"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94960"/>
            <a:ext cx="10698480" cy="100584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5532120"/>
            <a:ext cx="54864" cy="7315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4406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Rate comparisons, programs, payments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8064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Calibri"/>
              </a:defRPr>
            </a:pPr>
            <a:r>
              <a:t>Routes to: lender_shopping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55778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Calibri"/>
              </a:defRPr>
            </a:pPr>
            <a:r>
              <a:t>"Best rates for 740 credit, $72K income, $38K loan on 2025 Honda"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463040"/>
            <a:ext cx="73152" cy="7315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Business Value for CDK Global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017520"/>
            <a:ext cx="2011680" cy="25603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1546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3821"/>
                </a:solidFill>
                <a:latin typeface="Calibri"/>
              </a:defRPr>
            </a:pPr>
            <a:r>
              <a:t>~166,000 hrs/year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947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Underwriter hours saved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4340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BBBB"/>
                </a:solidFill>
                <a:latin typeface="Calibri"/>
              </a:defRPr>
            </a:pPr>
            <a:r>
              <a:t>At 500K apps, document review</a:t>
            </a:r>
            <a:br/>
            <a:r>
              <a:t>goes from ~20 min to seconds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3017520"/>
            <a:ext cx="2011680" cy="25603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1546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B72B"/>
                </a:solidFill>
                <a:latin typeface="Calibri"/>
              </a:defRPr>
            </a:pPr>
            <a:r>
              <a:t>$30-50M/year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37947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Fraud loss prevention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434340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BBBB"/>
                </a:solidFill>
                <a:latin typeface="Calibri"/>
              </a:defRPr>
            </a:pPr>
            <a:r>
              <a:t>Catch 1% of income-misrepresented</a:t>
            </a:r>
            <a:br/>
            <a:r>
              <a:t>loans on $15B portfolio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3017520"/>
            <a:ext cx="2011680" cy="25603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31546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2A5F5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37947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Audit trail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434340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BBBB"/>
                </a:solidFill>
                <a:latin typeface="Calibri"/>
              </a:defRPr>
            </a:pPr>
            <a:r>
              <a:t>Full lineage from raw document</a:t>
            </a:r>
            <a:br/>
            <a:r>
              <a:t>to final decision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3017520"/>
            <a:ext cx="2011680" cy="25603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31546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C853"/>
                </a:solidFill>
                <a:latin typeface="Calibri"/>
              </a:defRPr>
            </a:pPr>
            <a:r>
              <a:t>2-3% F1 lift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37947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Model accuracy improvement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434340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BBBB"/>
                </a:solidFill>
                <a:latin typeface="Calibri"/>
              </a:defRPr>
            </a:pPr>
            <a:r>
              <a:t>Continuous retraining via</a:t>
            </a:r>
            <a:br/>
            <a:r>
              <a:t>drift detection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3017520"/>
            <a:ext cx="2011680" cy="25603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29800" y="31546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Minutes to seconds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7947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Dealer decision latency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434340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BBBB"/>
                </a:solidFill>
                <a:latin typeface="Calibri"/>
              </a:defRPr>
            </a:pPr>
            <a:r>
              <a:t>Real-time serving +</a:t>
            </a:r>
            <a:br/>
            <a:r>
              <a:t>rate shopping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463040"/>
            <a:ext cx="73152" cy="7315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Day 1: Welcome &amp;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9:00 AM - 1:30 PM  |  Introductions, solution context, and Databricks platform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8888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28346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8888"/>
                </a:solidFill>
                <a:latin typeface="Calibri"/>
              </a:defRPr>
            </a:pPr>
            <a:r>
              <a:t>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8888"/>
                </a:solidFill>
                <a:latin typeface="Calibri"/>
              </a:defRPr>
            </a:pPr>
            <a:r>
              <a:t>Key Topics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54680"/>
            <a:ext cx="11247120" cy="9601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3246120"/>
            <a:ext cx="457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9:00 - 9:30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32004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Welcome &amp; Solution Overview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4747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alibri"/>
              </a:defRPr>
            </a:pPr>
            <a:r>
              <a:t>Track: 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218688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BB"/>
                </a:solidFill>
                <a:latin typeface="Calibri"/>
              </a:defRPr>
            </a:pPr>
            <a:r>
              <a:t>Introductions  |  Workshop Goals</a:t>
            </a:r>
            <a:br/>
            <a:r>
              <a:t>CDK Solution Architecture Walkthrough</a:t>
            </a:r>
            <a:br/>
            <a:r>
              <a:t>End-to-end demo preview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96512"/>
            <a:ext cx="11247120" cy="9601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4187952"/>
            <a:ext cx="45720" cy="77724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14223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9:30 - 10:45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1422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2A5F5"/>
                </a:solidFill>
                <a:latin typeface="Calibri"/>
              </a:defRPr>
            </a:pPr>
            <a:r>
              <a:t>Databricks Platform Overview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41655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alibri"/>
              </a:defRPr>
            </a:pPr>
            <a:r>
              <a:t>Track: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605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BB"/>
                </a:solidFill>
                <a:latin typeface="Calibri"/>
              </a:defRPr>
            </a:pPr>
            <a:r>
              <a:t>Lakehouse Architecture  |  Unity Catalog</a:t>
            </a:r>
            <a:br/>
            <a:r>
              <a:t>Delta Lake  |  Serverless Compute</a:t>
            </a:r>
            <a:br/>
            <a:r>
              <a:t>Workspace, Clusters, SQL Warehouses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8406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10:45 - 11:00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508406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alibri"/>
              </a:defRPr>
            </a:pPr>
            <a:r>
              <a:t>Break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31536"/>
            <a:ext cx="11247120" cy="9601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5522976"/>
            <a:ext cx="45720" cy="77724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7725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11:00 - 12:15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547725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2A5F5"/>
                </a:solidFill>
                <a:latin typeface="Calibri"/>
              </a:defRPr>
            </a:pPr>
            <a:r>
              <a:t>Platform Deep Dive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575157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alibri"/>
              </a:defRPr>
            </a:pPr>
            <a:r>
              <a:t>Track: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495544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BB"/>
                </a:solidFill>
                <a:latin typeface="Calibri"/>
              </a:defRPr>
            </a:pPr>
            <a:r>
              <a:t>Data Engineering: Auto Loader, SDP Pipelines</a:t>
            </a:r>
            <a:br/>
            <a:r>
              <a:t>SQL Analytics: Warehouses, Dashboards, Genie</a:t>
            </a:r>
            <a:br/>
            <a:r>
              <a:t>AI &amp; GenAI: Foundation Models, Vector Search</a:t>
            </a:r>
            <a:br/>
            <a:r>
              <a:t>Governance: Lineage, Row/Column Security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1908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12:15 - 12:45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64190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alibri"/>
              </a:defRPr>
            </a:pPr>
            <a:r>
              <a:t>Lunch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766560"/>
            <a:ext cx="11247120" cy="9601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" y="6858000"/>
            <a:ext cx="45720" cy="77724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812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12:45 - 1:30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7440" y="68122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2A5F5"/>
                </a:solidFill>
                <a:latin typeface="Calibri"/>
              </a:defRPr>
            </a:pPr>
            <a:r>
              <a:t>Platform Hands-On &amp; Q&amp;A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7440" y="70866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alibri"/>
              </a:defRPr>
            </a:pPr>
            <a:r>
              <a:t>Track: Platform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6830568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BB"/>
                </a:solidFill>
                <a:latin typeface="Calibri"/>
              </a:defRPr>
            </a:pPr>
            <a:r>
              <a:t>Live platform walkthrough</a:t>
            </a:r>
            <a:br/>
            <a:r>
              <a:t>Workspace navigation &amp; notebooks</a:t>
            </a:r>
            <a:br/>
            <a:r>
              <a:t>Unity Catalog exploration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463040"/>
            <a:ext cx="73152" cy="7315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Day 2: Hands-On Breakout Sessions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9:00 AM - 1:00 PM  |  AI Engineering, Data Engineering, ML &amp; MLOps/LLMOps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8888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28346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8888"/>
                </a:solidFill>
                <a:latin typeface="Calibri"/>
              </a:defRPr>
            </a:pPr>
            <a:r>
              <a:t>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8888"/>
                </a:solidFill>
                <a:latin typeface="Calibri"/>
              </a:defRPr>
            </a:pPr>
            <a:r>
              <a:t>Key Topics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54680"/>
            <a:ext cx="11247120" cy="9601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3246120"/>
            <a:ext cx="45720" cy="77724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9:00 - 10:15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32004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Calibri"/>
              </a:defRPr>
            </a:pPr>
            <a:r>
              <a:t>AI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4747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alibri"/>
              </a:defRPr>
            </a:pPr>
            <a:r>
              <a:t>Track: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218688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BB"/>
                </a:solidFill>
                <a:latin typeface="Calibri"/>
              </a:defRPr>
            </a:pPr>
            <a:r>
              <a:t>Agent Bricks  |  Genie Spaces</a:t>
            </a:r>
            <a:br/>
            <a:r>
              <a:t>UC Functions  |  Model Serving</a:t>
            </a:r>
            <a:br/>
            <a:r>
              <a:t>Multi-Agent Supervisor orchestration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14223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10:15 - 10:30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1422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alibri"/>
              </a:defRPr>
            </a:pPr>
            <a:r>
              <a:t>Break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489704"/>
            <a:ext cx="11247120" cy="9601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4581144"/>
            <a:ext cx="45720" cy="77724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53542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10:30 - 11:45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53542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3821"/>
                </a:solidFill>
                <a:latin typeface="Calibri"/>
              </a:defRPr>
            </a:pPr>
            <a:r>
              <a:t>Data 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4809744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alibri"/>
              </a:defRPr>
            </a:pPr>
            <a:r>
              <a:t>Track: Data Pipelines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553712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BB"/>
                </a:solidFill>
                <a:latin typeface="Calibri"/>
              </a:defRPr>
            </a:pPr>
            <a:r>
              <a:t>Auto Loader  |  Document AI (ai_parse_document)</a:t>
            </a:r>
            <a:br/>
            <a:r>
              <a:t>SDP Pipeline: Bronze / Silver / Gold</a:t>
            </a:r>
            <a:br/>
            <a:r>
              <a:t>3-way join on application_id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7725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11:45 - 12:00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547725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alibri"/>
              </a:defRPr>
            </a:pPr>
            <a:r>
              <a:t>Break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824728"/>
            <a:ext cx="11247120" cy="9601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" y="5916168"/>
            <a:ext cx="45720" cy="777240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87044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12:00 - 1:00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587044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B72B"/>
                </a:solidFill>
                <a:latin typeface="Calibri"/>
              </a:defRPr>
            </a:pPr>
            <a:r>
              <a:t>ML &amp; MLOps/LLMOps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61447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alibri"/>
              </a:defRPr>
            </a:pPr>
            <a:r>
              <a:t>Track: ML / MLOps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888736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BB"/>
                </a:solidFill>
                <a:latin typeface="Calibri"/>
              </a:defRPr>
            </a:pPr>
            <a:r>
              <a:t>Feature Engineering + UC Functions</a:t>
            </a:r>
            <a:br/>
            <a:r>
              <a:t>Optuna HPO + pyfunc wrapper with rules</a:t>
            </a:r>
            <a:br/>
            <a:r>
              <a:t>Champion/Challenger  |  Serving  |  Monitoring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463040"/>
            <a:ext cx="73152" cy="7315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Databricks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A unified analytics platform for data, AI, and governance  |  45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926080"/>
            <a:ext cx="5303520" cy="34747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063240"/>
            <a:ext cx="45720" cy="45720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2A5F5"/>
                </a:solidFill>
                <a:latin typeface="Calibri"/>
              </a:defRPr>
            </a:pPr>
            <a:r>
              <a:t>Lakehouse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66160"/>
            <a:ext cx="4663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Data Lakehouse: combines data lake + data warehouse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Delta Lake: ACID transactions, time travel, Z-order/Liquid Clustering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Unity Catalog: unified governance for tables, volumes, models, functions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Serverless compute: instant-on SQL warehouses &amp; job clusters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Workflows: orchestrate notebooks, pipelines, and jobs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Spark Declarative Pipelines: managed ETL (bronze/silver/gold)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Photon: vectorized query engine for fast SQL &amp; Spark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926080"/>
            <a:ext cx="5303520" cy="34747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3063240"/>
            <a:ext cx="45720" cy="45720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30175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2A5F5"/>
                </a:solidFill>
                <a:latin typeface="Calibri"/>
              </a:defRPr>
            </a:pPr>
            <a:r>
              <a:t>Key Capabilities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663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Data Engineering: Auto Loader, SDP, Structured Streaming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Data Science &amp; ML: MLflow, Feature Store, Model Serving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SQL Analytics: SQL Warehouses, AI/BI Dashboards, Genie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AI &amp; GenAI: Foundation Models, Agent Bricks, Vector Search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Governance: Unity Catalog, Lineage, Row/Column Security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Workspace: Notebooks, Repos, Git integration, CLI &amp; SDK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Marketplace: shared data products &amp; solution accelerators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463040"/>
            <a:ext cx="73152" cy="7315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Ingesting structured and unstructured data through a medallion architecture  |  75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926080"/>
            <a:ext cx="5303520" cy="34747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063240"/>
            <a:ext cx="45720" cy="45720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3821"/>
                </a:solidFill>
                <a:latin typeface="Calibri"/>
              </a:defRPr>
            </a:pPr>
            <a:r>
              <a:t>What We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66160"/>
            <a:ext cx="4663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Generate synthetic applications (parquet), pay stubs (PDF), photo IDs (JPEG)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Store raw files in Unity Catalog Volumes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Auto Loader ingestion (parquet + binaryFile)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AI extraction: ai_parse_document + ai_query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Bronze / Silver / Gold SDP pipeline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3-way LEFT JOIN on application_id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Derived ML features with verification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926080"/>
            <a:ext cx="5303520" cy="34747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3063240"/>
            <a:ext cx="45720" cy="45720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30175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3821"/>
                </a:solidFill>
                <a:latin typeface="Calibri"/>
              </a:defRPr>
            </a:pPr>
            <a:r>
              <a:t>Notebooks &amp;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663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01_generate_lender_data.py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01_generate_lender_data_pdf.py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bronze_applications.py    (Auto Loader parquet)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bronze_pay_stubs.py       (AI extraction PDF)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bronze_photo_ids.py       (AI extraction JPEG)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silver_applications.py    (3-way join)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gold_features.py          (ML features)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463040"/>
            <a:ext cx="73152" cy="7315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ML &amp; MLOps/LLMOps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Feature engineering, model training with business rules, and production deployment  |  60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926080"/>
            <a:ext cx="5303520" cy="34747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063240"/>
            <a:ext cx="45720" cy="457200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B72B"/>
                </a:solidFill>
                <a:latin typeface="Calibri"/>
              </a:defRPr>
            </a:pPr>
            <a:r>
              <a:t>What We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66160"/>
            <a:ext cx="4663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Feature table + 3 on-demand UC functions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Optuna HPO (LogReg, RF, LightGBM)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Custom pyfunc wrapper with deterministic rules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Structured output: prediction + reasoning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Champion / Challenger promotion flow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Batch inference via fe.score_batch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Real-time Model Serving endpoint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Lakehouse Monitoring + auto-retrain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926080"/>
            <a:ext cx="5303520" cy="34747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3063240"/>
            <a:ext cx="45720" cy="457200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30175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B72B"/>
                </a:solidFill>
                <a:latin typeface="Calibri"/>
              </a:defRPr>
            </a:pPr>
            <a:r>
              <a:t>Notebooks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663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01_feature_engineering.py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02_model_training_hpo_optuna.py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03a_create_deployment_job.py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03b_from_notebook_to_models_in_uc.py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04a_challenger_validation.py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04b_challenger_approval.py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05_batch_inference.py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06_serve_features_and_model.py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07_model_monitoring.py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08_drift_detection.py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463040"/>
            <a:ext cx="73152" cy="7315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AI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Agent Bricks  |  Genie Spaces  |  UC Functions  |  Model Serving  |  75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926080"/>
            <a:ext cx="5303520" cy="34747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063240"/>
            <a:ext cx="45720" cy="4572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853"/>
                </a:solidFill>
                <a:latin typeface="Calibri"/>
              </a:defRPr>
            </a:pPr>
            <a:r>
              <a:t>Key Topics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66160"/>
            <a:ext cx="4663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Agent Bricks: Knowledge Assistants &amp; Multi-Agent Supervisors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Genie Spaces: self-service SQL analytics via natural language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UC Functions: create tool functions for agent orchestration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Model Serving: deploy agents &amp; models to endpoints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ResponsesAgent + LangGraph custom agent pattern</a:t>
            </a:r>
          </a:p>
          <a:p>
            <a:pPr>
              <a:spcAft>
                <a:spcPts val="6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  End-to-end: approve, analyze, and shop lender rates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926080"/>
            <a:ext cx="5303520" cy="347472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3063240"/>
            <a:ext cx="45720" cy="4572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30175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853"/>
                </a:solidFill>
                <a:latin typeface="Calibri"/>
              </a:defRPr>
            </a:pPr>
            <a:r>
              <a:t>Notebooks &amp; Components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663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09a_generate_lender_programs.py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09b_setup_agent_bricks.py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src/agent/agent.py         (ResponsesAgent)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src/agent/test_agent.py    (test scenarios)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src/agent/log_model.py     (MLflow registration)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Databricks Components: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  Genie Space: CDK Lending Analytics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  MAS: CDK Lending Supervisor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  Model Serving Endpoint (custom agent)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463040"/>
            <a:ext cx="73152" cy="7315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Architecture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926080"/>
            <a:ext cx="10698480" cy="384048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980944"/>
            <a:ext cx="45720" cy="2743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94436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Data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944368"/>
            <a:ext cx="6583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Auto Loader, ai_parse_document, ai_query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46704"/>
            <a:ext cx="10698480" cy="384048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3401568"/>
            <a:ext cx="45720" cy="274320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36499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Data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364992"/>
            <a:ext cx="6583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Spark Declarative Pipeline (Bronze/Silver/Gold)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67328"/>
            <a:ext cx="10698480" cy="384048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822192"/>
            <a:ext cx="45720" cy="27432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78561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Feature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785616"/>
            <a:ext cx="6583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Feature table + on-demand UC functions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187952"/>
            <a:ext cx="10698480" cy="384048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4242816"/>
            <a:ext cx="45720" cy="2743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420624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ML Training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206240"/>
            <a:ext cx="6583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Optuna HPO + pyfunc wrapper with business rules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608576"/>
            <a:ext cx="10698480" cy="384048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663440"/>
            <a:ext cx="457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62686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Serving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626864"/>
            <a:ext cx="6583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Model Serving endpoint + Online Feature Store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029200"/>
            <a:ext cx="10698480" cy="384048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5084064"/>
            <a:ext cx="45720" cy="27432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50474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Monitoring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5047488"/>
            <a:ext cx="6583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Lakehouse Monitoring + auto-retrain on drift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449824"/>
            <a:ext cx="10698480" cy="384048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5504688"/>
            <a:ext cx="45720" cy="27432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4681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468112"/>
            <a:ext cx="6583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Genie Space for self-service SQL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5870448"/>
            <a:ext cx="10698480" cy="384048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4400" y="5925312"/>
            <a:ext cx="45720" cy="2743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8720" y="588873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Rate Shopping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5888736"/>
            <a:ext cx="6583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ResponsesAgent + LangGraph + UC Functions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6291072"/>
            <a:ext cx="10698480" cy="384048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6345936"/>
            <a:ext cx="45720" cy="2743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88720" y="63093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Orchestration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309360"/>
            <a:ext cx="6583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Multi-Agent Supervisor (MAS)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14400"/>
            <a:ext cx="73152" cy="73152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Conclusion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Continue your Databricks learning journey with these resources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77440"/>
            <a:ext cx="5303520" cy="402336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514600"/>
            <a:ext cx="45720" cy="457200"/>
          </a:xfrm>
          <a:prstGeom prst="rect">
            <a:avLst/>
          </a:prstGeom>
          <a:solidFill>
            <a:srgbClr val="FF3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3821"/>
                </a:solidFill>
                <a:latin typeface="Calibri"/>
              </a:defRPr>
            </a:pPr>
            <a:r>
              <a:t>Training &amp; Certification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7180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Databricks Academy  (academy.databricks.com)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Free self-paced courses for all skill levels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Databricks Certified Data Engineer Associate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Delta Lake, ELT, pipelines, governance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Databricks Certified ML Professional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MLflow, Feature Store, model deployment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Databricks Certified GenAI Engineer Associate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RAG, agents, compound AI systems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Databricks Partner Connect  (partner workshops)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Hands-on labs with Databricks SAs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377440"/>
            <a:ext cx="5303520" cy="4023360"/>
          </a:xfrm>
          <a:prstGeom prst="roundRect">
            <a:avLst/>
          </a:prstGeom>
          <a:solidFill>
            <a:srgbClr val="25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514600"/>
            <a:ext cx="45720" cy="45720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4688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2A5F5"/>
                </a:solidFill>
                <a:latin typeface="Calibri"/>
              </a:defRPr>
            </a:pPr>
            <a:r>
              <a:t>Documentation &amp; Community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7180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docs.databricks.com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Official documentation (AWS, Azure, GCP)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Databricks Community Forum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community.databricks.com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GitHub: databricks/databricks-sdk-py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Python SDK, CLI, notebooks, examples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Solution Accelerators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databricks.com/solutions/accelerators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DATA+AI Summit (annual conference)</a:t>
            </a:r>
          </a:p>
          <a:p>
            <a:pPr>
              <a:spcAft>
                <a:spcPts val="600"/>
              </a:spcAft>
              <a:defRPr sz="1200">
                <a:solidFill>
                  <a:srgbClr val="BBBBBB"/>
                </a:solidFill>
                <a:latin typeface="Calibri"/>
              </a:defRPr>
            </a:pPr>
            <a:r>
              <a:t>  Sessions, workshops, &amp; networking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