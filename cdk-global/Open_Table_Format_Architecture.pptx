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atabricks-one-lockup-full-color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6217920"/>
            <a:ext cx="1844168" cy="3657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1463040"/>
            <a:ext cx="73152" cy="731520"/>
          </a:xfrm>
          <a:prstGeom prst="rect">
            <a:avLst/>
          </a:prstGeom>
          <a:solidFill>
            <a:srgbClr val="FF3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Cost of Dual-Platform Data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Snowflake + Databricks without open table formats</a:t>
            </a:r>
          </a:p>
        </p:txBody>
      </p:sp>
      <p:pic>
        <p:nvPicPr>
          <p:cNvPr id="6" name="Picture 5" descr="lakehouse-lockup-full-color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1325880"/>
            <a:ext cx="1338146" cy="457200"/>
          </a:xfrm>
          <a:prstGeom prst="rect">
            <a:avLst/>
          </a:prstGeom>
        </p:spPr>
      </p:pic>
      <p:pic>
        <p:nvPicPr>
          <p:cNvPr id="7" name="Picture 6" descr="delta-sharing-lockup-full-color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325880"/>
            <a:ext cx="1371600" cy="4114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2880360"/>
            <a:ext cx="2606040" cy="214884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3063240"/>
            <a:ext cx="54864" cy="1737360"/>
          </a:xfrm>
          <a:prstGeom prst="rect">
            <a:avLst/>
          </a:prstGeom>
          <a:solidFill>
            <a:srgbClr val="FF3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081528"/>
            <a:ext cx="2221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Data Duplication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538728"/>
            <a:ext cx="222199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Storing the same datasets in both platforms drives up storage costs.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2880360"/>
            <a:ext cx="2606040" cy="214884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3063240"/>
            <a:ext cx="54864" cy="173736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3081528"/>
            <a:ext cx="2221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Compute Duplication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538728"/>
            <a:ext cx="222199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Redundant queries and transformations run in Snowflake and Databricks.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880360"/>
            <a:ext cx="2606040" cy="214884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3063240"/>
            <a:ext cx="54864" cy="1737360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3081528"/>
            <a:ext cx="2221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Networking Cost &amp; Latency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3538728"/>
            <a:ext cx="222199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Moving data between platforms adds egress fees and delays.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2880360"/>
            <a:ext cx="2606040" cy="214884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70848" y="3063240"/>
            <a:ext cx="54864" cy="17373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17152" y="3081528"/>
            <a:ext cx="2221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Dual Governance Overhead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7152" y="3538728"/>
            <a:ext cx="222199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Policies, access controls, and lineage maintained separately in two systems.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257800"/>
            <a:ext cx="11247120" cy="1005840"/>
          </a:xfrm>
          <a:prstGeom prst="roundRect">
            <a:avLst/>
          </a:prstGeom>
          <a:solidFill>
            <a:srgbClr val="2A3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5367528"/>
            <a:ext cx="109728" cy="777240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422392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72B"/>
                </a:solidFill>
                <a:latin typeface="Calibri"/>
              </a:defRPr>
            </a:pPr>
            <a:r>
              <a:t>These challenges compound as AI/ML use cases scale — making open table formats a prerequisite, not an optimization.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atabricks-one-lockup-full-color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6217920"/>
            <a:ext cx="1844168" cy="3657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1463040"/>
            <a:ext cx="73152" cy="731520"/>
          </a:xfrm>
          <a:prstGeom prst="rect">
            <a:avLst/>
          </a:prstGeom>
          <a:solidFill>
            <a:srgbClr val="FF3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Use Cases Blocked Without Open Table Formats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Production readiness depends on a unified data layer</a:t>
            </a:r>
          </a:p>
        </p:txBody>
      </p:sp>
      <p:pic>
        <p:nvPicPr>
          <p:cNvPr id="6" name="Picture 5" descr="mosaic-ai-lockup-full-color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1325880"/>
            <a:ext cx="1300095" cy="457200"/>
          </a:xfrm>
          <a:prstGeom prst="rect">
            <a:avLst/>
          </a:prstGeom>
        </p:spPr>
      </p:pic>
      <p:pic>
        <p:nvPicPr>
          <p:cNvPr id="7" name="Picture 6" descr="unity-catalog-lockup-full-color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325880"/>
            <a:ext cx="1387011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278892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1. AIVA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99816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All sub-agents need unified access across Snowflake and external systems.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78892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2. MCP 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099816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Requires a consistent data access layer across platforms.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5760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3. WRAP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68496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Needs streamlined data pipelines without duplication.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65760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4. Customer LTV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968496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Cross-platform analytics depend on unified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2628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5. AI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837176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Enterprise AI requires open, interoperable data as a foundation.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52628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6. Parts Kit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837176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Agent workflows need real-time, governed data access.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532120"/>
            <a:ext cx="11247120" cy="86868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5669280"/>
            <a:ext cx="54864" cy="594360"/>
          </a:xfrm>
          <a:prstGeom prst="rect">
            <a:avLst/>
          </a:prstGeom>
          <a:solidFill>
            <a:srgbClr val="FF3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696712"/>
            <a:ext cx="10835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Each use case depends on a unified, open data layer — without it, teams face fragmented data, duplicated effort, and delayed time-to-production.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atabricks-one-lockup-full-color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6217920"/>
            <a:ext cx="1844168" cy="3657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1463040"/>
            <a:ext cx="73152" cy="731520"/>
          </a:xfrm>
          <a:prstGeom prst="rect">
            <a:avLst/>
          </a:prstGeom>
          <a:solidFill>
            <a:srgbClr val="FF3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Path Forward — Open Table Formats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Iceberg and Delta as the interoperability standard</a:t>
            </a:r>
          </a:p>
        </p:txBody>
      </p:sp>
      <p:pic>
        <p:nvPicPr>
          <p:cNvPr id="6" name="Picture 5" descr="logo-color-delta-l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1280160"/>
            <a:ext cx="976544" cy="502920"/>
          </a:xfrm>
          <a:prstGeom prst="rect">
            <a:avLst/>
          </a:prstGeom>
        </p:spPr>
      </p:pic>
      <p:pic>
        <p:nvPicPr>
          <p:cNvPr id="7" name="Picture 6" descr="unity-catalog-lockup-full-color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325880"/>
            <a:ext cx="1387011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2788920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• Prescribed architecture: adopt Iceberg (and/or Delta) as the open table format standard so Databricks can read directly from Snowflake-managed tables with minimal data movement.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02152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• Start with the gold layer: implement incrementally — begin with curated/gold datasets to limit disruption.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15384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• External client access: standardizing on Iceberg/Delta lets partners and clients read from Snowflake through open, portable interfaces.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928616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• Customer references: major Databricks customers including UHG (UnitedHealth Group) and John Deere have adopted this interoperability pattern at scale.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788920"/>
            <a:ext cx="3657600" cy="288036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27848" y="2971800"/>
            <a:ext cx="54864" cy="25146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74152" y="299008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Social proof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4152" y="3410712"/>
            <a:ext cx="32918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UHG (UnitedHealth Group) and John Deere exemplify enterprises that have moved toward open table formats and governed lakehouse patterns to scale analytics and AI.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623560"/>
            <a:ext cx="11064240" cy="36576"/>
          </a:xfrm>
          <a:prstGeom prst="rect">
            <a:avLst/>
          </a:prstGeom>
          <a:solidFill>
            <a:srgbClr val="FF3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733288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B72B"/>
                </a:solidFill>
                <a:latin typeface="Calibri"/>
              </a:defRPr>
            </a:pPr>
            <a:r>
              <a:t>Open table formats aren't just a technical decision — they're the foundation for a scalable, governed, AI-ready data platform.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atabricks-one-lockup-full-color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6217920"/>
            <a:ext cx="1844168" cy="3657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274320"/>
            <a:ext cx="1463040" cy="36576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Best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Position UC as the Managing Catalog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Interop. Solution: Write directly to UC from SF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5303520" cy="347472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Architecture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77440"/>
            <a:ext cx="1828800" cy="27432"/>
          </a:xfrm>
          <a:prstGeom prst="rect">
            <a:avLst/>
          </a:prstGeom>
          <a:solidFill>
            <a:srgbClr val="FF3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▸  Unity Catalog (Metastore)  →  External Data Access + Grant External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175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▸  Snowflake Horizon (Account)  →  UC Catalog Integration + Linked Databases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5204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▸  SF Warehouse  →  Write directly in UC from SF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23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▸  UC Managed Iceberg (UC Storage Root)  ←→  Read/Write from Databricks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52628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  <a:latin typeface="Calibri"/>
              </a:defRPr>
            </a:pPr>
            <a:r>
              <a:t>① Enable external data access to Unity Catalog + Grant external use schema to the service principal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6908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  <a:latin typeface="Calibri"/>
              </a:defRPr>
            </a:pPr>
            <a:r>
              <a:t>② Configure a catalog integration for Unity Catalog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855464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  <a:latin typeface="Calibri"/>
              </a:defRPr>
            </a:pPr>
            <a:r>
              <a:t>③ Create catalog-linked 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02005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  <a:latin typeface="Calibri"/>
              </a:defRPr>
            </a:pPr>
            <a:r>
              <a:t>④ Write directly to Databricks tables (AWS only at the moment)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18464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  <a:latin typeface="Calibri"/>
              </a:defRPr>
            </a:pPr>
            <a:r>
              <a:t>⑤ Read and Write to the same table from Databricks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1920240"/>
            <a:ext cx="5760720" cy="210312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80760" y="2029968"/>
            <a:ext cx="45720" cy="1874519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9933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26771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BB"/>
                </a:solidFill>
                <a:latin typeface="Calibri"/>
              </a:defRPr>
            </a:pPr>
            <a:r>
              <a:t>★ BEST: When customer has Unity Catalog. Enables both Databricks and Snowflake to read and write on same Iceberg table managed by UC.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67919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BB"/>
                </a:solidFill>
                <a:latin typeface="Calibri"/>
              </a:defRPr>
            </a:pPr>
            <a:r>
              <a:t>▸ UC Managed Iceberg resides on external locations (S3/ADLS/GCS), not in Snowflake proprietary storage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09067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BB"/>
                </a:solidFill>
                <a:latin typeface="Calibri"/>
              </a:defRPr>
            </a:pPr>
            <a:r>
              <a:t>▸ Reads and Writes on same UC table from both Snowflake and Databricks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50215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BB"/>
                </a:solidFill>
                <a:latin typeface="Calibri"/>
              </a:defRPr>
            </a:pPr>
            <a:r>
              <a:t>▸ Customer gets Predictive Optimization benefits — auto-expires old snapshots, deletes unreferenced files, incrementally clusters via Liquid Clustering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89320" y="4160520"/>
            <a:ext cx="1856231" cy="105156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62472" y="4251960"/>
            <a:ext cx="36576" cy="8686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3912" y="4233672"/>
            <a:ext cx="162763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53912" y="4480560"/>
            <a:ext cx="162763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BB"/>
                </a:solidFill>
                <a:latin typeface="Calibri"/>
              </a:defRPr>
            </a:pPr>
            <a:r>
              <a:t>✅ Writes supported from both engines</a:t>
            </a:r>
            <a:br/>
            <a:r>
              <a:t>✅ Cost depends on engine performing read/write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36991" y="4160520"/>
            <a:ext cx="1856231" cy="105156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10143" y="4251960"/>
            <a:ext cx="36576" cy="86868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01583" y="4233672"/>
            <a:ext cx="162763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Metadata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01583" y="4480560"/>
            <a:ext cx="162763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BB"/>
                </a:solidFill>
                <a:latin typeface="Calibri"/>
              </a:defRPr>
            </a:pPr>
            <a:r>
              <a:t>✅ Updated automatically and incrementally during a read or refresh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84662" y="4160520"/>
            <a:ext cx="1856231" cy="105156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957814" y="4251960"/>
            <a:ext cx="36576" cy="868680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49254" y="4233672"/>
            <a:ext cx="162763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Governance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49254" y="4480560"/>
            <a:ext cx="162763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BB"/>
                </a:solidFill>
                <a:latin typeface="Calibri"/>
              </a:defRPr>
            </a:pPr>
            <a:r>
              <a:t>Managed by Unity Catalog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atabricks-one-lockup-full-color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6217920"/>
            <a:ext cx="1844168" cy="3657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274320"/>
            <a:ext cx="1463040" cy="36576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Best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57400" y="274320"/>
            <a:ext cx="731520" cy="36576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2743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Move to Snowflake Managed Iceberg from Native 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Interop. Solution: Unity Catalog Federation to SF Horizon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20240"/>
            <a:ext cx="5303520" cy="347472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Architecture 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77440"/>
            <a:ext cx="1828800" cy="27432"/>
          </a:xfrm>
          <a:prstGeom prst="rect">
            <a:avLst/>
          </a:prstGeom>
          <a:solidFill>
            <a:srgbClr val="FF3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146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▸  Unity Catalog (Metastore)  →  Connection to Snowflake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5351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▸  External Location  →  Points to Snowflake storage (S3/ADLS/GCS)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9242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▸  Foreign Catalog  →  Created in UC using the connection + external location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831336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▸  Databricks Workspace  →  Queries SF tables via UC Federation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7024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▸  Object Storage (Managed Iceberg)  ←→  SF Warehouse writes, DBX reads from 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7091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  <a:latin typeface="Calibri"/>
              </a:defRPr>
            </a:pPr>
            <a:r>
              <a:t>① Create a connection to Snowflake on Unity Catalog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88289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  <a:latin typeface="Calibri"/>
              </a:defRPr>
            </a:pPr>
            <a:r>
              <a:t>② Create an External Location in UC pointing to Snowflake storage (create Storage Root location)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05663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  <a:latin typeface="Calibri"/>
              </a:defRPr>
            </a:pPr>
            <a:r>
              <a:t>③ Create a foreign catalog in UC — add External Location as authorized path + specify external storage root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23036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  <a:latin typeface="Calibri"/>
              </a:defRPr>
            </a:pPr>
            <a:r>
              <a:t>④ Query your Snowflake table in Databricks — Iceberg tables read directly from storage; native SF tables fall back to JDBC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1920240"/>
            <a:ext cx="5760720" cy="233172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0760" y="2029968"/>
            <a:ext cx="45720" cy="210312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19933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26771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BB"/>
                </a:solidFill>
                <a:latin typeface="Calibri"/>
              </a:defRPr>
            </a:pPr>
            <a:r>
              <a:t>★ Move native SF tables to Snowflake managed Iceberg tables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6334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BB"/>
                </a:solidFill>
                <a:latin typeface="Calibri"/>
              </a:defRPr>
            </a:pPr>
            <a:r>
              <a:t>▸ SF Managed Iceberg resides on external volumes (S3/ADLS/GCS), not Snowflake proprietary storage — UC can access it and avoid double compute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9992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BB"/>
                </a:solidFill>
                <a:latin typeface="Calibri"/>
              </a:defRPr>
            </a:pPr>
            <a:r>
              <a:t>▸ Read-only in Databricks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36499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BB"/>
                </a:solidFill>
                <a:latin typeface="Calibri"/>
              </a:defRPr>
            </a:pPr>
            <a:r>
              <a:t>⚠ SF Iceberg table read will fall back to JDBC if not present under authorized paths (costly due to double compute)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73075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BB"/>
                </a:solidFill>
                <a:latin typeface="Calibri"/>
              </a:defRPr>
            </a:pPr>
            <a:r>
              <a:t>⚠ When creating a UC catalog, specify an external storage root — default root has known issues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89320" y="4389120"/>
            <a:ext cx="1856231" cy="105156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62472" y="4480560"/>
            <a:ext cx="36576" cy="8686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53912" y="4462272"/>
            <a:ext cx="162763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53912" y="4709160"/>
            <a:ext cx="162763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BB"/>
                </a:solidFill>
                <a:latin typeface="Calibri"/>
              </a:defRPr>
            </a:pPr>
            <a:r>
              <a:t>✅ Single Compute on DBX side</a:t>
            </a:r>
            <a:br/>
            <a:r>
              <a:t>✅ Very small SF WH for Iceberg metadata</a:t>
            </a:r>
            <a:br/>
            <a:r>
              <a:t>✅ No data replication — efficient storage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36991" y="4389120"/>
            <a:ext cx="1856231" cy="105156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10143" y="4480560"/>
            <a:ext cx="36576" cy="86868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01583" y="4462272"/>
            <a:ext cx="162763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Metadata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01583" y="4709160"/>
            <a:ext cx="162763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BB"/>
                </a:solidFill>
                <a:latin typeface="Calibri"/>
              </a:defRPr>
            </a:pPr>
            <a:r>
              <a:t>✅ Updated automatically and incrementally during a read or refresh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84662" y="4389120"/>
            <a:ext cx="1856231" cy="1051560"/>
          </a:xfrm>
          <a:prstGeom prst="roundRect">
            <a:avLst/>
          </a:prstGeom>
          <a:solidFill>
            <a:srgbClr val="25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957814" y="4480560"/>
            <a:ext cx="36576" cy="868680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49254" y="4462272"/>
            <a:ext cx="162763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Governance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49254" y="4709160"/>
            <a:ext cx="162763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BBBB"/>
                </a:solidFill>
                <a:latin typeface="Calibri"/>
              </a:defRPr>
            </a:pPr>
            <a:r>
              <a:t>Managed by Snowflake Horizon; access controls also need to be applied in UC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